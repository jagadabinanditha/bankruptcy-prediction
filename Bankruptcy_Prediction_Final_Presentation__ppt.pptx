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9728" cy="475488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430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300" b="1">
                <a:solidFill>
                  <a:srgbClr val="FFFFFF"/>
                </a:solidFill>
              </a:defRPr>
            </a:pPr>
            <a:r>
              <a:t>BANKRUPTCY PREDICTION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Using Decision Trees and Random Forest</a:t>
            </a:r>
          </a:p>
          <a:p>
            <a:pPr>
              <a:defRPr sz="2600">
                <a:solidFill>
                  <a:srgbClr val="FFFFFF"/>
                </a:solidFill>
              </a:defRPr>
            </a:pPr>
            <a:r>
              <a:t>with Precision–Recall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" y="4297680"/>
            <a:ext cx="9601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2DCEB"/>
                </a:solidFill>
              </a:defRPr>
            </a:pPr>
            <a:r>
              <a:t>Machine Learning Project | B.Tech CSE | A.Y. 2026–27</a:t>
            </a:r>
          </a:p>
          <a:p>
            <a:pPr>
              <a:defRPr sz="1500">
                <a:solidFill>
                  <a:srgbClr val="D2DCEB"/>
                </a:solidFill>
              </a:defRPr>
            </a:pPr>
            <a:r>
              <a:t>J. Nanditha (2520030013)  •  K. Srithika (2520030361)</a:t>
            </a:r>
          </a:p>
          <a:p>
            <a:pPr>
              <a:defRPr sz="1400">
                <a:solidFill>
                  <a:srgbClr val="D2DCEB"/>
                </a:solidFill>
              </a:defRPr>
            </a:pPr>
            <a:r>
              <a:t>Guide: Mr. Shaik Asif, 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A34"/>
                </a:solidFill>
              </a:defRPr>
            </a:pPr>
            <a:r>
              <a:t>Bankruptcy prediction is a critical financial-risk task because early identification of distress can support timely corrective decisions.</a:t>
            </a:r>
          </a:p>
          <a:p>
            <a:pPr>
              <a:spcAft>
                <a:spcPts val="1200"/>
              </a:spcAft>
              <a:defRPr sz="1700">
                <a:solidFill>
                  <a:srgbClr val="232A34"/>
                </a:solidFill>
              </a:defRPr>
            </a:pPr>
            <a:r>
              <a:t>The proposed system uses supervised machine learning to classify companies as bankrupt or non-bankrupt from financial indicators.</a:t>
            </a:r>
          </a:p>
          <a:p>
            <a:pPr>
              <a:spcAft>
                <a:spcPts val="1200"/>
              </a:spcAft>
              <a:defRPr sz="1700">
                <a:solidFill>
                  <a:srgbClr val="232A34"/>
                </a:solidFill>
              </a:defRPr>
            </a:pPr>
            <a:r>
              <a:t>Two models are proposed: Decision Tree for interpretability and Random Forest for stronger generalisation and reduced overfitting.</a:t>
            </a:r>
          </a:p>
          <a:p>
            <a:pPr>
              <a:spcAft>
                <a:spcPts val="1200"/>
              </a:spcAft>
              <a:defRPr sz="1700">
                <a:solidFill>
                  <a:srgbClr val="232A34"/>
                </a:solidFill>
              </a:defRPr>
            </a:pPr>
            <a:r>
              <a:t>The project emphasizes Precision, Recall, F1-score, Confusion Matrix, Precision–Recall Curve and Average Precision because of class imbalance.</a:t>
            </a:r>
          </a:p>
          <a:p>
            <a:pPr>
              <a:spcAft>
                <a:spcPts val="1200"/>
              </a:spcAft>
              <a:defRPr sz="1700">
                <a:solidFill>
                  <a:srgbClr val="232A34"/>
                </a:solidFill>
              </a:defRPr>
            </a:pPr>
            <a:r>
              <a:t>Feature-importance analysis will identify financial indicators that contribute most to the prediction.</a:t>
            </a:r>
          </a:p>
          <a:p>
            <a:pPr>
              <a:spcAft>
                <a:spcPts val="1200"/>
              </a:spcAft>
              <a:defRPr sz="1700">
                <a:solidFill>
                  <a:srgbClr val="232A34"/>
                </a:solidFill>
              </a:defRPr>
            </a:pPr>
            <a:r>
              <a:t>The final goal is a decision-support tool for early financial-distress detection.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203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Companies may experience declining profitability, reduced liquidity and increasing difficulty meeting financial obligations before bankruptcy.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Traditional financial analysis relies heavily on manual examination of statements and ratios.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Manual analysis can be time-consuming and may not capture complex, nonlinear relationships among financial indicators.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Machine learning can learn patterns from historical financial data and classify companies according to bankruptcy risk.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Key challenge: the bankrupt class is much smaller than the non-bankrupt class, making accuracy alone potentially misleading.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203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429000" cy="182880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73152" cy="182880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1. Predict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Classify companies as bankrupt or non-bankrupt using financial indicators.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29000" cy="182880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73152" cy="182880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36192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2. Compare Models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Evaluate Decision Tree and Random Forest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71600"/>
            <a:ext cx="3429000" cy="182880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1371600"/>
            <a:ext cx="73152" cy="182880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36192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3. Handle Imbalance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Use precision-oriented evaluation rather than accuracy alone.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3429000" cy="182880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657600"/>
            <a:ext cx="73152" cy="182880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22191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4. Explain Features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Identify important financial indicators using feature analysis.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657600"/>
            <a:ext cx="3429000" cy="182880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657600"/>
            <a:ext cx="73152" cy="182880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822191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5. Evaluate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Use confusion matrix, Precision, Recall, F1 and PR analysis.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657600"/>
            <a:ext cx="3429000" cy="182880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3657600"/>
            <a:ext cx="73152" cy="182880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822191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6. Support Decisions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Provide a basis for early financial-risk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638251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203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Dataset Description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29184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3152" cy="141732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90472"/>
            <a:ext cx="2880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Source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UCI Machine Learning Repository</a:t>
            </a:r>
            <a:br/>
            <a:r>
              <a:t>Taiwanese Bankruptcy Prediction</a:t>
            </a:r>
            <a:br/>
            <a:r>
              <a:t>Dataset ID 572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29184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1325880"/>
            <a:ext cx="73152" cy="141732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90472"/>
            <a:ext cx="2880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Size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6,819 company instances</a:t>
            </a:r>
            <a:br/>
            <a:r>
              <a:t>95 financial features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325880"/>
            <a:ext cx="329184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138160" y="1325880"/>
            <a:ext cx="73152" cy="141732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490472"/>
            <a:ext cx="2880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Target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“Bankrupt?”</a:t>
            </a:r>
            <a:br/>
            <a:r>
              <a:t>Classification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329184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63240"/>
            <a:ext cx="73152" cy="141732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27832"/>
            <a:ext cx="2880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Data Period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Taiwan Economic Journal</a:t>
            </a:r>
            <a:br/>
            <a:r>
              <a:t>1999–2009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3063240"/>
            <a:ext cx="329184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3063240"/>
            <a:ext cx="73152" cy="141732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227832"/>
            <a:ext cx="2880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Missing Values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Official UCI documentation:</a:t>
            </a:r>
            <a:br/>
            <a:r>
              <a:t>No missing values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063240"/>
            <a:ext cx="329184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3063240"/>
            <a:ext cx="73152" cy="141732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227832"/>
            <a:ext cx="2880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DOI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10.24432/C5004D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7492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A5CA0"/>
                </a:solidFill>
              </a:defRPr>
            </a:pPr>
            <a:r>
              <a:t>Official source: archive.ics.uci.edu/dataset/572/taiwanese+bankruptcy+prediction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0" y="638251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203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System 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1069848" y="1874519"/>
            <a:ext cx="685800" cy="685800"/>
          </a:xfrm>
          <a:prstGeom prst="ellipse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Dataset Collection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64792" y="2167128"/>
            <a:ext cx="658368" cy="73152"/>
          </a:xfrm>
          <a:prstGeom prst="rect">
            <a:avLst/>
          </a:prstGeom>
          <a:solidFill>
            <a:srgbClr val="E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008376" y="1874519"/>
            <a:ext cx="685800" cy="685800"/>
          </a:xfrm>
          <a:prstGeom prst="ellipse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1448" y="27432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Data Preprocessing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2167128"/>
            <a:ext cx="658368" cy="73152"/>
          </a:xfrm>
          <a:prstGeom prst="rect">
            <a:avLst/>
          </a:prstGeom>
          <a:solidFill>
            <a:srgbClr val="E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46904" y="1874519"/>
            <a:ext cx="685800" cy="685800"/>
          </a:xfrm>
          <a:prstGeom prst="ellipse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7432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Train/Test Split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41848" y="2167128"/>
            <a:ext cx="658368" cy="73152"/>
          </a:xfrm>
          <a:prstGeom prst="rect">
            <a:avLst/>
          </a:prstGeom>
          <a:solidFill>
            <a:srgbClr val="E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85432" y="1874519"/>
            <a:ext cx="685800" cy="685800"/>
          </a:xfrm>
          <a:prstGeom prst="ellipse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7432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Model 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0375" y="2167128"/>
            <a:ext cx="658368" cy="73152"/>
          </a:xfrm>
          <a:prstGeom prst="rect">
            <a:avLst/>
          </a:prstGeom>
          <a:solidFill>
            <a:srgbClr val="E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823960" y="1874519"/>
            <a:ext cx="685800" cy="685800"/>
          </a:xfrm>
          <a:prstGeom prst="ellipse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27432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Evaluation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18904" y="2167128"/>
            <a:ext cx="658368" cy="73152"/>
          </a:xfrm>
          <a:prstGeom prst="rect">
            <a:avLst/>
          </a:prstGeom>
          <a:solidFill>
            <a:srgbClr val="E1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62488" y="1874519"/>
            <a:ext cx="685800" cy="685800"/>
          </a:xfrm>
          <a:prstGeom prst="ellipse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27432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2037"/>
                </a:solidFill>
              </a:defRPr>
            </a:pPr>
            <a:r>
              <a:t>Model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</a:defRPr>
            </a:pPr>
            <a:r>
              <a:t>Preprocessing includes handling missing values, removing unnecessary/redundant columns and preparing numerical features.</a:t>
            </a:r>
          </a:p>
          <a:p>
            <a:pPr>
              <a:spcAft>
                <a:spcPts val="1200"/>
              </a:spcAft>
              <a:defRPr sz="1600">
                <a:solidFill>
                  <a:srgbClr val="232A34"/>
                </a:solidFill>
              </a:defRPr>
            </a:pPr>
            <a:r>
              <a:t>The held-out test set is used to assess performance on unseen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638251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203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Data Preprocessing &amp;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Load the UCI dataset and separate features from the target.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Clean column names and convert the target to integer form.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Check dataset dimensions, missing values, duplicates and feature types.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Detect constant/redundant features and exclude them from meaningful EDA calculations.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Replace infinite values before correlation analysis.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Calculate feature–target correlations and rank the strongest associations.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Compare important indicators across bankrupt and non-bankrupt classes.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203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Key EDA Findings &amp; Visualizations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429000" cy="182880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73152" cy="182880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Class Distribution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The EDA explicitly checks the bankrupt vs. non-bankrupt distribution and highlights class imbalance.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29000" cy="182880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73152" cy="182880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36192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Correlation Analysis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Top 15 financial indicators are ranked by absolute correlation with the bankruptcy target.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371600"/>
            <a:ext cx="3429000" cy="182880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1371600"/>
            <a:ext cx="73152" cy="182880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36192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Heatmap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A compact correlation matrix focuses on the most relevant indicators and the target.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3429000" cy="182880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657600"/>
            <a:ext cx="73152" cy="182880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22191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Boxplots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The top four indicators are compared by company status.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657600"/>
            <a:ext cx="3429000" cy="182880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3657600"/>
            <a:ext cx="73152" cy="182880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822191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Feature Table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Top indicators are compared using correlation and class-wise mean values.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3657600"/>
            <a:ext cx="3429000" cy="182880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3657600"/>
            <a:ext cx="73152" cy="182880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822191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Why It Matters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EDA provides the evidence base for selecting and interpreting features before modeling.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638251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2037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Machine Learning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4937760" cy="338328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73152" cy="338328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73351"/>
            <a:ext cx="4526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Decision Tree Classifier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• Splits the financial feature space using threshold-based rules.</a:t>
            </a:r>
            <a:br/>
            <a:r>
              <a:t>• Produces an interpretable tree structure.</a:t>
            </a:r>
            <a:br/>
            <a:r>
              <a:t>• Leaf nodes represent predicted classes.</a:t>
            </a:r>
            <a:br/>
            <a:r>
              <a:t>• Can overfit if the tree grows without restriction.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08760"/>
            <a:ext cx="4937760" cy="338328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508760"/>
            <a:ext cx="73152" cy="338328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673351"/>
            <a:ext cx="4526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Random Forest Classifier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• Combines many decision trees.</a:t>
            </a:r>
            <a:br/>
            <a:r>
              <a:t>• Trees use different random subsets of data and features.</a:t>
            </a:r>
            <a:br/>
            <a:r>
              <a:t>• Predictions are combined through voting.</a:t>
            </a:r>
            <a:br/>
            <a:r>
              <a:t>• Generally improves generalisation and reduces overfitting compared with a single tree.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0" y="638251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2037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Evaluation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606040" cy="182880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73152" cy="182880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90472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Precision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Of predicted bankrupt companies, how many are actually bankrupt?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325880"/>
            <a:ext cx="2606040" cy="182880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37560" y="1325880"/>
            <a:ext cx="73152" cy="182880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490472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Recall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Of actual bankrupt companies, how many are detected?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325880"/>
            <a:ext cx="2606040" cy="182880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325880"/>
            <a:ext cx="73152" cy="182880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90472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F1-Score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Balances Precision and Recall.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325880"/>
            <a:ext cx="2606040" cy="182880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23960" y="1325880"/>
            <a:ext cx="73152" cy="182880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490472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Confusion Matrix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Shows correct and incorrect class predictions.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3703320"/>
            <a:ext cx="3566160" cy="164592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65960" y="3703320"/>
            <a:ext cx="73152" cy="164592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3867911"/>
            <a:ext cx="31546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Precision–Recall Curve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Shows the trade-off between precision and recall across classification thresholds.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703320"/>
            <a:ext cx="3566160" cy="1645920"/>
          </a:xfrm>
          <a:prstGeom prst="roundRect">
            <a:avLst/>
          </a:prstGeom>
          <a:solidFill>
            <a:srgbClr val="F2F6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3703320"/>
            <a:ext cx="73152" cy="1645920"/>
          </a:xfrm>
          <a:prstGeom prst="rect">
            <a:avLst/>
          </a:prstGeom>
          <a:solidFill>
            <a:srgbClr val="2A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3867911"/>
            <a:ext cx="31546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22037"/>
                </a:solidFill>
              </a:defRPr>
            </a:pPr>
            <a:r>
              <a:t>Average Precision</a:t>
            </a:r>
          </a:p>
          <a:p>
            <a:pPr>
              <a:spcBef>
                <a:spcPts val="800"/>
              </a:spcBef>
              <a:defRPr sz="1300">
                <a:solidFill>
                  <a:srgbClr val="232A34"/>
                </a:solidFill>
              </a:defRPr>
            </a:pPr>
            <a:r>
              <a:t>Summarises performance across the Precision–Recall curve.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638251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2037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Expected Results &amp;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Train both Decision Tree and Random Forest classifiers on the prepared financial data.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Evaluate both models on unseen test data.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Compare Precision, Recall, F1-score, confusion matrices and Precision–Recall performance.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Identify which model provides the better balance between detecting bankrupt companies and limiting incorrect bankruptcy predictions.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Use feature importance to understand which financial indicators contribute most to model predictions.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Note: the materials provided describe the proposed evaluation; they do not contain final trained-model scores.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2037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Software &amp; Hardware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Operating System: Windows 10 or Windows 11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Programming Language: Python 3.x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Development Environment: Jupyter Notebook or Google Colab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Libraries: Pandas, NumPy, Scikit-learn, Matplotlib, Seaborn, Imbalanced-learn, Joblib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Hardware: Intel Core i3 or equivalent; minimum 4 GB RAM; 8 GB RAM recommended; at least 1 GB available storage</a:t>
            </a:r>
          </a:p>
          <a:p>
            <a:pPr>
              <a:spcAft>
                <a:spcPts val="1200"/>
              </a:spcAft>
              <a:defRPr sz="1800">
                <a:solidFill>
                  <a:srgbClr val="232A34"/>
                </a:solidFill>
              </a:defRPr>
            </a:pPr>
            <a:r>
              <a:t>Internet connection required for Google Colab, dataset download and library installation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2037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037"/>
                </a:solidFill>
              </a:defRPr>
            </a:pPr>
            <a:r>
              <a:t>Project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Cleaned and prepared bankruptcy dataset for modeling.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Exploratory analysis of data quality, class distribution and financial indicators.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Decision Tree and Random Forest classification models.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Confusion matrix and classification report.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Precision, Recall and F1-score comparison.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Precision–Recall curves and Average Precision scores.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Feature-importance analysis and final model comparison.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122037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  <a:p>
            <a:pPr algn="ctr">
              <a:defRPr sz="2300">
                <a:solidFill>
                  <a:srgbClr val="FFFFFF"/>
                </a:solidFill>
              </a:defRPr>
            </a:pPr>
            <a:r>
              <a:t>Bankruptcy prediction can support earlier identification of financial distress.</a:t>
            </a:r>
          </a:p>
          <a:p>
            <a:pPr algn="ctr">
              <a:defRPr sz="2000">
                <a:solidFill>
                  <a:srgbClr val="D2DCEB"/>
                </a:solidFill>
              </a:defRPr>
            </a:pPr>
            <a:r>
              <a:t>The proposed project combines interpretable Decision Trees, robust Random Forest modeling, feature analysis and precision-oriented evaluation.</a:t>
            </a:r>
          </a:p>
          <a:p>
            <a:pPr algn="ctr">
              <a:defRPr sz="27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