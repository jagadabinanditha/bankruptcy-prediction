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5069" y="561340"/>
            <a:ext cx="5859780" cy="297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785" marR="2554605" indent="-580390">
              <a:lnSpc>
                <a:spcPct val="152900"/>
              </a:lnSpc>
              <a:spcBef>
                <a:spcPts val="100"/>
              </a:spcBef>
            </a:pPr>
            <a:r>
              <a:rPr dirty="0" sz="1150" b="1">
                <a:latin typeface="Arial"/>
                <a:cs typeface="Arial"/>
              </a:rPr>
              <a:t>A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PROJECT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20" b="1">
                <a:latin typeface="Arial"/>
                <a:cs typeface="Arial"/>
              </a:rPr>
              <a:t>TITLE </a:t>
            </a:r>
            <a:r>
              <a:rPr dirty="0" sz="1150" spc="-25" b="1">
                <a:latin typeface="Arial"/>
                <a:cs typeface="Arial"/>
              </a:rPr>
              <a:t>ON</a:t>
            </a:r>
            <a:endParaRPr sz="1150">
              <a:latin typeface="Arial"/>
              <a:cs typeface="Arial"/>
            </a:endParaRPr>
          </a:p>
          <a:p>
            <a:pPr marL="1800860" marR="5080" indent="-1788160">
              <a:lnSpc>
                <a:spcPts val="1320"/>
              </a:lnSpc>
              <a:spcBef>
                <a:spcPts val="819"/>
              </a:spcBef>
            </a:pPr>
            <a:r>
              <a:rPr dirty="0" sz="1150" b="1">
                <a:latin typeface="Arial"/>
                <a:cs typeface="Arial"/>
              </a:rPr>
              <a:t>BANKRUPTCY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PREDICTION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USING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DECISION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TREES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AND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RANDOM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FOREST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spc="-20" b="1">
                <a:latin typeface="Arial"/>
                <a:cs typeface="Arial"/>
              </a:rPr>
              <a:t>WITH </a:t>
            </a:r>
            <a:r>
              <a:rPr dirty="0" sz="1150" spc="-10" b="1">
                <a:latin typeface="Arial"/>
                <a:cs typeface="Arial"/>
              </a:rPr>
              <a:t>PRECISION-</a:t>
            </a:r>
            <a:r>
              <a:rPr dirty="0" sz="1150" b="1">
                <a:latin typeface="Arial"/>
                <a:cs typeface="Arial"/>
              </a:rPr>
              <a:t>RECALL</a:t>
            </a:r>
            <a:r>
              <a:rPr dirty="0" sz="1150" spc="3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ANALYSIS</a:t>
            </a:r>
            <a:endParaRPr sz="1150">
              <a:latin typeface="Arial"/>
              <a:cs typeface="Arial"/>
            </a:endParaRPr>
          </a:p>
          <a:p>
            <a:pPr algn="ctr" marR="510540">
              <a:lnSpc>
                <a:spcPct val="100000"/>
              </a:lnSpc>
              <a:spcBef>
                <a:spcPts val="1250"/>
              </a:spcBef>
            </a:pPr>
            <a:r>
              <a:rPr dirty="0" sz="1550" b="1">
                <a:latin typeface="Arial"/>
                <a:cs typeface="Arial"/>
              </a:rPr>
              <a:t>MACHINE</a:t>
            </a:r>
            <a:r>
              <a:rPr dirty="0" sz="1550" spc="-95" b="1">
                <a:latin typeface="Arial"/>
                <a:cs typeface="Arial"/>
              </a:rPr>
              <a:t> </a:t>
            </a:r>
            <a:r>
              <a:rPr dirty="0" sz="1550" spc="-10" b="1">
                <a:latin typeface="Arial"/>
                <a:cs typeface="Arial"/>
              </a:rPr>
              <a:t>LEARNING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550">
              <a:latin typeface="Arial"/>
              <a:cs typeface="Arial"/>
            </a:endParaRPr>
          </a:p>
          <a:p>
            <a:pPr marL="1192530">
              <a:lnSpc>
                <a:spcPct val="100000"/>
              </a:lnSpc>
            </a:pPr>
            <a:r>
              <a:rPr dirty="0" sz="1550" spc="-10" b="1">
                <a:latin typeface="Arial"/>
                <a:cs typeface="Arial"/>
              </a:rPr>
              <a:t>BACHELOR</a:t>
            </a:r>
            <a:r>
              <a:rPr dirty="0" sz="1550" spc="-2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OF</a:t>
            </a:r>
            <a:r>
              <a:rPr dirty="0" sz="1550" spc="-30" b="1">
                <a:latin typeface="Arial"/>
                <a:cs typeface="Arial"/>
              </a:rPr>
              <a:t> </a:t>
            </a:r>
            <a:r>
              <a:rPr dirty="0" sz="1550" spc="-10" b="1">
                <a:latin typeface="Arial"/>
                <a:cs typeface="Arial"/>
              </a:rPr>
              <a:t>TECHNOLOGY</a:t>
            </a:r>
            <a:endParaRPr sz="1550">
              <a:latin typeface="Arial"/>
              <a:cs typeface="Arial"/>
            </a:endParaRPr>
          </a:p>
          <a:p>
            <a:pPr algn="ctr" marR="474345">
              <a:lnSpc>
                <a:spcPct val="100000"/>
              </a:lnSpc>
              <a:spcBef>
                <a:spcPts val="740"/>
              </a:spcBef>
            </a:pPr>
            <a:r>
              <a:rPr dirty="0" sz="1150" spc="-25">
                <a:latin typeface="Arial"/>
                <a:cs typeface="Arial"/>
              </a:rPr>
              <a:t>in</a:t>
            </a:r>
            <a:endParaRPr sz="1150">
              <a:latin typeface="Arial"/>
              <a:cs typeface="Arial"/>
            </a:endParaRPr>
          </a:p>
          <a:p>
            <a:pPr algn="ctr" marR="454025">
              <a:lnSpc>
                <a:spcPct val="100000"/>
              </a:lnSpc>
              <a:spcBef>
                <a:spcPts val="730"/>
              </a:spcBef>
            </a:pPr>
            <a:r>
              <a:rPr dirty="0" sz="1150">
                <a:latin typeface="Arial"/>
                <a:cs typeface="Arial"/>
              </a:rPr>
              <a:t>A.Y.:</a:t>
            </a:r>
            <a:r>
              <a:rPr dirty="0" sz="1150" spc="-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2026-</a:t>
            </a:r>
            <a:r>
              <a:rPr dirty="0" sz="1150" spc="-25">
                <a:latin typeface="Arial"/>
                <a:cs typeface="Arial"/>
              </a:rPr>
              <a:t>27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150">
              <a:latin typeface="Arial"/>
              <a:cs typeface="Arial"/>
            </a:endParaRPr>
          </a:p>
          <a:p>
            <a:pPr algn="ctr" marR="467359">
              <a:lnSpc>
                <a:spcPct val="100000"/>
              </a:lnSpc>
            </a:pPr>
            <a:r>
              <a:rPr dirty="0" sz="1150" spc="-25">
                <a:latin typeface="Arial"/>
                <a:cs typeface="Arial"/>
              </a:rPr>
              <a:t>by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29" y="3751579"/>
            <a:ext cx="77025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latin typeface="Arial"/>
                <a:cs typeface="Arial"/>
              </a:rPr>
              <a:t>J.Nanditha</a:t>
            </a:r>
            <a:endParaRPr sz="11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6164" y="3751579"/>
            <a:ext cx="836294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latin typeface="Arial"/>
                <a:cs typeface="Arial"/>
              </a:rPr>
              <a:t>2520030013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6970" y="4165600"/>
            <a:ext cx="3324225" cy="1471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9850">
              <a:lnSpc>
                <a:spcPct val="100000"/>
              </a:lnSpc>
              <a:spcBef>
                <a:spcPts val="100"/>
              </a:spcBef>
              <a:tabLst>
                <a:tab pos="2486025" algn="l"/>
              </a:tabLst>
            </a:pPr>
            <a:r>
              <a:rPr dirty="0" sz="1150" spc="-10" b="1">
                <a:latin typeface="Arial"/>
                <a:cs typeface="Arial"/>
              </a:rPr>
              <a:t>K.Srithika</a:t>
            </a:r>
            <a:r>
              <a:rPr dirty="0" sz="1150" b="1">
                <a:latin typeface="Arial"/>
                <a:cs typeface="Arial"/>
              </a:rPr>
              <a:t>	</a:t>
            </a:r>
            <a:r>
              <a:rPr dirty="0" sz="1150" spc="-10" b="1">
                <a:latin typeface="Arial"/>
                <a:cs typeface="Arial"/>
              </a:rPr>
              <a:t>2520030361</a:t>
            </a:r>
            <a:endParaRPr sz="1150">
              <a:latin typeface="Arial"/>
              <a:cs typeface="Arial"/>
            </a:endParaRPr>
          </a:p>
          <a:p>
            <a:pPr algn="ctr" marL="367665" marR="815340">
              <a:lnSpc>
                <a:spcPct val="152900"/>
              </a:lnSpc>
              <a:spcBef>
                <a:spcPts val="670"/>
              </a:spcBef>
            </a:pPr>
            <a:r>
              <a:rPr dirty="0" sz="1150">
                <a:latin typeface="Arial"/>
                <a:cs typeface="Arial"/>
              </a:rPr>
              <a:t>Under</a:t>
            </a:r>
            <a:r>
              <a:rPr dirty="0" sz="1150" spc="-3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the</a:t>
            </a:r>
            <a:r>
              <a:rPr dirty="0" sz="1150" spc="-3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Esteemed</a:t>
            </a:r>
            <a:r>
              <a:rPr dirty="0" sz="1150" spc="-3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guidance</a:t>
            </a:r>
            <a:r>
              <a:rPr dirty="0" sz="1150" spc="-3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of </a:t>
            </a:r>
            <a:r>
              <a:rPr dirty="0" sz="1150">
                <a:latin typeface="Arial"/>
                <a:cs typeface="Arial"/>
              </a:rPr>
              <a:t>Mr.</a:t>
            </a:r>
            <a:r>
              <a:rPr dirty="0" sz="1150" spc="-3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Shaik</a:t>
            </a:r>
            <a:r>
              <a:rPr dirty="0" sz="1150" spc="-3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Asif</a:t>
            </a:r>
            <a:endParaRPr sz="1150">
              <a:latin typeface="Arial"/>
              <a:cs typeface="Arial"/>
            </a:endParaRPr>
          </a:p>
          <a:p>
            <a:pPr algn="ctr" marR="438784">
              <a:lnSpc>
                <a:spcPct val="100000"/>
              </a:lnSpc>
              <a:spcBef>
                <a:spcPts val="720"/>
              </a:spcBef>
            </a:pPr>
            <a:r>
              <a:rPr dirty="0" sz="1150">
                <a:latin typeface="Arial"/>
                <a:cs typeface="Arial"/>
              </a:rPr>
              <a:t>Asst.</a:t>
            </a:r>
            <a:r>
              <a:rPr dirty="0" sz="1150" spc="-3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professor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000">
                <a:latin typeface="Arial"/>
                <a:cs typeface="Arial"/>
              </a:rPr>
              <a:t>DEPARTMENT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CSE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14400" y="5839459"/>
            <a:ext cx="5943600" cy="2228850"/>
            <a:chOff x="914400" y="5839459"/>
            <a:chExt cx="5943600" cy="22288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9600" y="5839459"/>
              <a:ext cx="1473200" cy="14744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7316469"/>
              <a:ext cx="5943600" cy="7518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675640"/>
            <a:ext cx="6422390" cy="81407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969" y="1497330"/>
            <a:ext cx="6444615" cy="7698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DEPARTMENT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3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CSE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Arial"/>
              <a:cs typeface="Arial"/>
            </a:endParaRPr>
          </a:p>
          <a:p>
            <a:pPr marL="12700" marR="58419" indent="40640">
              <a:lnSpc>
                <a:spcPts val="1280"/>
              </a:lnSpc>
            </a:pPr>
            <a:r>
              <a:rPr dirty="0" sz="1100" b="1">
                <a:latin typeface="Arial"/>
                <a:cs typeface="Arial"/>
              </a:rPr>
              <a:t>Name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Title</a:t>
            </a:r>
            <a:r>
              <a:rPr dirty="0" sz="1100">
                <a:latin typeface="Arial"/>
                <a:cs typeface="Arial"/>
              </a:rPr>
              <a:t>:</a:t>
            </a:r>
            <a:r>
              <a:rPr dirty="0" sz="1100" spc="229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Bankruptcy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Prediction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Decision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Trees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Random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Forest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Precision-Recall Analysis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00">
              <a:latin typeface="Arial"/>
              <a:cs typeface="Arial"/>
            </a:endParaRPr>
          </a:p>
          <a:p>
            <a:pPr marL="404495" indent="-154305">
              <a:lnSpc>
                <a:spcPct val="100000"/>
              </a:lnSpc>
              <a:buAutoNum type="arabicPeriod"/>
              <a:tabLst>
                <a:tab pos="404495" algn="l"/>
              </a:tabLst>
            </a:pPr>
            <a:r>
              <a:rPr dirty="0" sz="1100" spc="-10" b="1">
                <a:latin typeface="Arial"/>
                <a:cs typeface="Arial"/>
              </a:rPr>
              <a:t>Abstract:</a:t>
            </a:r>
            <a:endParaRPr sz="1100">
              <a:latin typeface="Arial"/>
              <a:cs typeface="Arial"/>
            </a:endParaRPr>
          </a:p>
          <a:p>
            <a:pPr marL="12700" marR="5080" indent="76835">
              <a:lnSpc>
                <a:spcPct val="95800"/>
              </a:lnSpc>
              <a:spcBef>
                <a:spcPts val="885"/>
              </a:spcBef>
            </a:pPr>
            <a:r>
              <a:rPr dirty="0" sz="1100">
                <a:latin typeface="Arial"/>
                <a:cs typeface="Arial"/>
              </a:rPr>
              <a:t>Bankruptcy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prediction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critical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task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risk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management,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timely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identification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 spc="-10">
                <a:latin typeface="Arial"/>
                <a:cs typeface="Arial"/>
              </a:rPr>
              <a:t>financially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distressed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companies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allows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banks,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investors,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lenders,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companies,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regulatory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authorities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take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corrective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action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before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irreversible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losses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occur.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project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proposes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machine-learning-</a:t>
            </a:r>
            <a:r>
              <a:rPr dirty="0" sz="1100">
                <a:latin typeface="Arial"/>
                <a:cs typeface="Arial"/>
              </a:rPr>
              <a:t>based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system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predict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whether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company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likely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become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bankrupt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analysing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range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>
                <a:latin typeface="Arial"/>
                <a:cs typeface="Arial"/>
              </a:rPr>
              <a:t>company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indicators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using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supervised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classification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algorithms.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Two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algorithms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proposed</a:t>
            </a:r>
            <a:r>
              <a:rPr dirty="0" sz="1100" spc="500">
                <a:latin typeface="Arial"/>
                <a:cs typeface="Arial"/>
              </a:rPr>
              <a:t> 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task: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Decision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Tree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Classifier,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which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produces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interpretable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model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partitioning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the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feature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space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using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threshold-</a:t>
            </a:r>
            <a:r>
              <a:rPr dirty="0" sz="1100">
                <a:latin typeface="Arial"/>
                <a:cs typeface="Arial"/>
              </a:rPr>
              <a:t>based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rules,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Random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Forest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Classifier,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which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combines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predictions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multiple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decision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trees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improve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generalisation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reduce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risk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overfitting</a:t>
            </a:r>
            <a:endParaRPr sz="1100">
              <a:latin typeface="Arial"/>
              <a:cs typeface="Arial"/>
            </a:endParaRPr>
          </a:p>
          <a:p>
            <a:pPr marL="12700" marR="26670">
              <a:lnSpc>
                <a:spcPct val="95900"/>
              </a:lnSpc>
              <a:spcBef>
                <a:spcPts val="885"/>
              </a:spcBef>
            </a:pPr>
            <a:r>
              <a:rPr dirty="0" sz="1100">
                <a:latin typeface="Arial"/>
                <a:cs typeface="Arial"/>
              </a:rPr>
              <a:t>Before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model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training,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dataset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undergo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systematic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preprocessing,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including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handling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>
                <a:latin typeface="Arial"/>
                <a:cs typeface="Arial"/>
              </a:rPr>
              <a:t>missing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values,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removal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unnecessary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redundant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columns,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appropriate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preparation</a:t>
            </a:r>
            <a:r>
              <a:rPr dirty="0" sz="1100" spc="-25">
                <a:latin typeface="Arial"/>
                <a:cs typeface="Arial"/>
              </a:rPr>
              <a:t> of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numerical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features.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processed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dataset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split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training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testing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sets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evaluate </a:t>
            </a:r>
            <a:r>
              <a:rPr dirty="0" sz="1100">
                <a:latin typeface="Arial"/>
                <a:cs typeface="Arial"/>
              </a:rPr>
              <a:t>model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performance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unseen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data.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significant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challenge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associated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bankruptcy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datasets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is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class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imbalance,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since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number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nonbankrupt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companies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typically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greater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number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>
                <a:latin typeface="Arial"/>
                <a:cs typeface="Arial"/>
              </a:rPr>
              <a:t>bankrupt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companies.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Under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such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conditions, </a:t>
            </a:r>
            <a:r>
              <a:rPr dirty="0" sz="1100">
                <a:latin typeface="Arial"/>
                <a:cs typeface="Arial"/>
              </a:rPr>
              <a:t>accuracy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alone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reliable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evaluation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metric,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a </a:t>
            </a:r>
            <a:r>
              <a:rPr dirty="0" sz="1100">
                <a:latin typeface="Arial"/>
                <a:cs typeface="Arial"/>
              </a:rPr>
              <a:t>model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achieve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high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accuracy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score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while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still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failing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correctly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identify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bankrupt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companies.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For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reason,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project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places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emphasis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precision,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recall,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F1-</a:t>
            </a:r>
            <a:r>
              <a:rPr dirty="0" sz="1100">
                <a:latin typeface="Arial"/>
                <a:cs typeface="Arial"/>
              </a:rPr>
              <a:t>score,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together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confusion </a:t>
            </a:r>
            <a:r>
              <a:rPr dirty="0" sz="1100">
                <a:latin typeface="Arial"/>
                <a:cs typeface="Arial"/>
              </a:rPr>
              <a:t>matrix,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evaluation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measures.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Precision-</a:t>
            </a:r>
            <a:r>
              <a:rPr dirty="0" sz="1100">
                <a:latin typeface="Arial"/>
                <a:cs typeface="Arial"/>
              </a:rPr>
              <a:t>Recall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curve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Average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Precision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score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also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used,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particularly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suitable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evaluating </a:t>
            </a:r>
            <a:r>
              <a:rPr dirty="0" sz="1100">
                <a:latin typeface="Arial"/>
                <a:cs typeface="Arial"/>
              </a:rPr>
              <a:t>classifiers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imbalanced datasets.</a:t>
            </a:r>
            <a:endParaRPr sz="1100">
              <a:latin typeface="Arial"/>
              <a:cs typeface="Arial"/>
            </a:endParaRPr>
          </a:p>
          <a:p>
            <a:pPr marL="12700" marR="83185">
              <a:lnSpc>
                <a:spcPct val="95800"/>
              </a:lnSpc>
              <a:spcBef>
                <a:spcPts val="885"/>
              </a:spcBef>
            </a:pP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addition,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feature-</a:t>
            </a:r>
            <a:r>
              <a:rPr dirty="0" sz="1100">
                <a:latin typeface="Arial"/>
                <a:cs typeface="Arial"/>
              </a:rPr>
              <a:t>importance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analysis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carried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out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identify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which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indicators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contribute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most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significantly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prediction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bankruptcy.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performance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Decision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Tree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and </a:t>
            </a:r>
            <a:r>
              <a:rPr dirty="0" sz="1100">
                <a:latin typeface="Arial"/>
                <a:cs typeface="Arial"/>
              </a:rPr>
              <a:t>Random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Forest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models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will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compared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determine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which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model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provides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better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balance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between </a:t>
            </a:r>
            <a:r>
              <a:rPr dirty="0" sz="1100">
                <a:latin typeface="Arial"/>
                <a:cs typeface="Arial"/>
              </a:rPr>
              <a:t>correctly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detecting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bankrupt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companies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minimising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incorrect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bankruptcy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predictions.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resulting </a:t>
            </a:r>
            <a:r>
              <a:rPr dirty="0" sz="1100">
                <a:latin typeface="Arial"/>
                <a:cs typeface="Arial"/>
              </a:rPr>
              <a:t>system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intended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function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decision-</a:t>
            </a:r>
            <a:r>
              <a:rPr dirty="0" sz="1100">
                <a:latin typeface="Arial"/>
                <a:cs typeface="Arial"/>
              </a:rPr>
              <a:t>support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tool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financial-</a:t>
            </a:r>
            <a:r>
              <a:rPr dirty="0" sz="1100">
                <a:latin typeface="Arial"/>
                <a:cs typeface="Arial"/>
              </a:rPr>
              <a:t>risk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assessment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early </a:t>
            </a:r>
            <a:r>
              <a:rPr dirty="0" sz="1100">
                <a:latin typeface="Arial"/>
                <a:cs typeface="Arial"/>
              </a:rPr>
              <a:t>detection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distress,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thereby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assisting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stakeholders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making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informed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timely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financial decisions.</a:t>
            </a:r>
            <a:endParaRPr sz="1100">
              <a:latin typeface="Arial"/>
              <a:cs typeface="Arial"/>
            </a:endParaRPr>
          </a:p>
          <a:p>
            <a:pPr marL="167005" indent="-154305">
              <a:lnSpc>
                <a:spcPct val="100000"/>
              </a:lnSpc>
              <a:spcBef>
                <a:spcPts val="830"/>
              </a:spcBef>
              <a:buAutoNum type="arabicPeriod" startAt="2"/>
              <a:tabLst>
                <a:tab pos="167005" algn="l"/>
              </a:tabLst>
            </a:pPr>
            <a:r>
              <a:rPr dirty="0" sz="1100" spc="-10" b="1">
                <a:latin typeface="Arial"/>
                <a:cs typeface="Arial"/>
              </a:rPr>
              <a:t>INTRODUCTION:</a:t>
            </a:r>
            <a:endParaRPr sz="1100">
              <a:latin typeface="Arial"/>
              <a:cs typeface="Arial"/>
            </a:endParaRPr>
          </a:p>
          <a:p>
            <a:pPr marL="12700" marR="50165">
              <a:lnSpc>
                <a:spcPct val="95800"/>
              </a:lnSpc>
              <a:spcBef>
                <a:spcPts val="885"/>
              </a:spcBef>
            </a:pPr>
            <a:r>
              <a:rPr dirty="0" sz="1100">
                <a:latin typeface="Arial"/>
                <a:cs typeface="Arial"/>
              </a:rPr>
              <a:t>Bankruptcy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refers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legal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condition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which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company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unable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meet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obligations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and </a:t>
            </a:r>
            <a:r>
              <a:rPr dirty="0" sz="1100">
                <a:latin typeface="Arial"/>
                <a:cs typeface="Arial"/>
              </a:rPr>
              <a:t>repay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outstanding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debts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creditors.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generally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arises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stage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longer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process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known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distress,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during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which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company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experiences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declining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profitability,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reduced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liquidity,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and </a:t>
            </a:r>
            <a:r>
              <a:rPr dirty="0" sz="1100">
                <a:latin typeface="Arial"/>
                <a:cs typeface="Arial"/>
              </a:rPr>
              <a:t>increasing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difficulty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meeting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short-</a:t>
            </a:r>
            <a:r>
              <a:rPr dirty="0" sz="1100">
                <a:latin typeface="Arial"/>
                <a:cs typeface="Arial"/>
              </a:rPr>
              <a:t>term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long-</a:t>
            </a:r>
            <a:r>
              <a:rPr dirty="0" sz="1100">
                <a:latin typeface="Arial"/>
                <a:cs typeface="Arial"/>
              </a:rPr>
              <a:t>term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commitments.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Identifying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signs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distress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early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stage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considerable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importance,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since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allows</a:t>
            </a:r>
            <a:r>
              <a:rPr dirty="0" sz="1100" spc="-10">
                <a:latin typeface="Arial"/>
                <a:cs typeface="Arial"/>
              </a:rPr>
              <a:t> companies,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banks, </a:t>
            </a:r>
            <a:r>
              <a:rPr dirty="0" sz="1100">
                <a:latin typeface="Arial"/>
                <a:cs typeface="Arial"/>
              </a:rPr>
              <a:t>investors,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regulatory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authorities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take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timely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corrective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measures,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such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restructuring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debt, </a:t>
            </a:r>
            <a:r>
              <a:rPr dirty="0" sz="1100">
                <a:latin typeface="Arial"/>
                <a:cs typeface="Arial"/>
              </a:rPr>
              <a:t>adjusting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credit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exposure,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revising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investment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decisions,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before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situation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deteriorates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into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full-</a:t>
            </a:r>
            <a:r>
              <a:rPr dirty="0" sz="1100">
                <a:latin typeface="Arial"/>
                <a:cs typeface="Arial"/>
              </a:rPr>
              <a:t>scale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bankruptcy.</a:t>
            </a:r>
            <a:endParaRPr sz="1100">
              <a:latin typeface="Arial"/>
              <a:cs typeface="Arial"/>
            </a:endParaRPr>
          </a:p>
          <a:p>
            <a:pPr marL="12700" marR="50165">
              <a:lnSpc>
                <a:spcPts val="1270"/>
              </a:lnSpc>
              <a:spcBef>
                <a:spcPts val="915"/>
              </a:spcBef>
            </a:pPr>
            <a:r>
              <a:rPr dirty="0" sz="1100" spc="-10">
                <a:latin typeface="Arial"/>
                <a:cs typeface="Arial"/>
              </a:rPr>
              <a:t>Traditionally,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health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company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assessed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through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manual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analysis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financial </a:t>
            </a:r>
            <a:r>
              <a:rPr dirty="0" sz="1100">
                <a:latin typeface="Arial"/>
                <a:cs typeface="Arial"/>
              </a:rPr>
              <a:t>statements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ratios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analysts.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However,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manual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analysis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has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notable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limitations: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time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654050"/>
            <a:ext cx="6420485" cy="851408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12065">
              <a:lnSpc>
                <a:spcPct val="95800"/>
              </a:lnSpc>
              <a:spcBef>
                <a:spcPts val="155"/>
              </a:spcBef>
            </a:pPr>
            <a:r>
              <a:rPr dirty="0" sz="1100" spc="-10">
                <a:latin typeface="Arial"/>
                <a:cs typeface="Arial"/>
              </a:rPr>
              <a:t>consuming,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dependent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expertise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analyst,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often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unable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process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large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volume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generated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modern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companies.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Moreover,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manual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methods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fail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capture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complex,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nonlinear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relationships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between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indicators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that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influence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likelihood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bankruptcy. </a:t>
            </a:r>
            <a:r>
              <a:rPr dirty="0" sz="1100">
                <a:latin typeface="Arial"/>
                <a:cs typeface="Arial"/>
              </a:rPr>
              <a:t>Machine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learning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offers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alternative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approach,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automatically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learn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patterns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from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historical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these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patterns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classify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companies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bankrupt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non-bankrupt.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95800"/>
              </a:lnSpc>
            </a:pPr>
            <a:r>
              <a:rPr dirty="0" sz="1100">
                <a:latin typeface="Arial"/>
                <a:cs typeface="Arial"/>
              </a:rPr>
              <a:t>Among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various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machine-</a:t>
            </a:r>
            <a:r>
              <a:rPr dirty="0" sz="1100">
                <a:latin typeface="Arial"/>
                <a:cs typeface="Arial"/>
              </a:rPr>
              <a:t>learning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techniques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available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classification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tasks,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Decision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Tree </a:t>
            </a:r>
            <a:r>
              <a:rPr dirty="0" sz="1100">
                <a:latin typeface="Arial"/>
                <a:cs typeface="Arial"/>
              </a:rPr>
              <a:t>Classifier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most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intuitive.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works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repeatedly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splitting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dataset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based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values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of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indicators,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forming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tree-</a:t>
            </a:r>
            <a:r>
              <a:rPr dirty="0" sz="1100">
                <a:latin typeface="Arial"/>
                <a:cs typeface="Arial"/>
              </a:rPr>
              <a:t>like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structure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which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each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internal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node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represents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decision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rule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each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leaf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node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represents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predicted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class.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While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Decision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Trees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easy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interpret,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can</a:t>
            </a:r>
            <a:r>
              <a:rPr dirty="0" sz="1100" spc="5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prone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overfitting,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particularly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when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tree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allowed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grow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without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restriction.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Random </a:t>
            </a:r>
            <a:r>
              <a:rPr dirty="0" sz="1100">
                <a:latin typeface="Arial"/>
                <a:cs typeface="Arial"/>
              </a:rPr>
              <a:t>Forest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Classifier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addresses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limitation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constructing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large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number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decision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trees,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each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trained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different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random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subset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features,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combining </a:t>
            </a:r>
            <a:r>
              <a:rPr dirty="0" sz="1100">
                <a:latin typeface="Arial"/>
                <a:cs typeface="Arial"/>
              </a:rPr>
              <a:t>their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individual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predictions</a:t>
            </a:r>
            <a:r>
              <a:rPr dirty="0" sz="1100" spc="500">
                <a:latin typeface="Arial"/>
                <a:cs typeface="Arial"/>
              </a:rPr>
              <a:t>  </a:t>
            </a:r>
            <a:r>
              <a:rPr dirty="0" sz="1100">
                <a:latin typeface="Arial"/>
                <a:cs typeface="Arial"/>
              </a:rPr>
              <a:t>through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voting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mechanism.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ensemble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approach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generally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improves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predictive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performance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and </a:t>
            </a:r>
            <a:r>
              <a:rPr dirty="0" sz="1100">
                <a:latin typeface="Arial"/>
                <a:cs typeface="Arial"/>
              </a:rPr>
              <a:t>reduces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overfitting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compared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single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decision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tree.</a:t>
            </a:r>
            <a:endParaRPr sz="1100">
              <a:latin typeface="Arial"/>
              <a:cs typeface="Arial"/>
            </a:endParaRPr>
          </a:p>
          <a:p>
            <a:pPr marL="12700" marR="82550">
              <a:lnSpc>
                <a:spcPct val="95800"/>
              </a:lnSpc>
              <a:spcBef>
                <a:spcPts val="885"/>
              </a:spcBef>
            </a:pP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main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objective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project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design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evaluate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machine-learning-</a:t>
            </a:r>
            <a:r>
              <a:rPr dirty="0" sz="1100">
                <a:latin typeface="Arial"/>
                <a:cs typeface="Arial"/>
              </a:rPr>
              <a:t>based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system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that </a:t>
            </a:r>
            <a:r>
              <a:rPr dirty="0" sz="1100">
                <a:latin typeface="Arial"/>
                <a:cs typeface="Arial"/>
              </a:rPr>
              <a:t>predicts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bankruptcy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status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company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its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indicators,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particular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attention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to </a:t>
            </a:r>
            <a:r>
              <a:rPr dirty="0" sz="1100">
                <a:latin typeface="Arial"/>
                <a:cs typeface="Arial"/>
              </a:rPr>
              <a:t>handling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class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imbalance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evaluating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performance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precision-</a:t>
            </a:r>
            <a:r>
              <a:rPr dirty="0" sz="1100">
                <a:latin typeface="Arial"/>
                <a:cs typeface="Arial"/>
              </a:rPr>
              <a:t>oriented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metrics.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general </a:t>
            </a:r>
            <a:r>
              <a:rPr dirty="0" sz="1100">
                <a:latin typeface="Arial"/>
                <a:cs typeface="Arial"/>
              </a:rPr>
              <a:t>workflow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proposed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system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involves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collection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dataset,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preprocessing,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training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Decision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Tree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Random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Forest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models,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evaluation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their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predictions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held-</a:t>
            </a:r>
            <a:r>
              <a:rPr dirty="0" sz="1100">
                <a:latin typeface="Arial"/>
                <a:cs typeface="Arial"/>
              </a:rPr>
              <a:t>out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test </a:t>
            </a:r>
            <a:r>
              <a:rPr dirty="0" sz="1100">
                <a:latin typeface="Arial"/>
                <a:cs typeface="Arial"/>
              </a:rPr>
              <a:t>set.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Ultimately,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this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project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compares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Decision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Tree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Random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Forest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models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identify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which </a:t>
            </a:r>
            <a:r>
              <a:rPr dirty="0" sz="1100">
                <a:latin typeface="Arial"/>
                <a:cs typeface="Arial"/>
              </a:rPr>
              <a:t>model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provides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best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balance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between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detecting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bankrupt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companies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avoiding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incorrect </a:t>
            </a:r>
            <a:r>
              <a:rPr dirty="0" sz="1100">
                <a:latin typeface="Arial"/>
                <a:cs typeface="Arial"/>
              </a:rPr>
              <a:t>bankruptcy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predictions.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100">
              <a:latin typeface="Arial"/>
              <a:cs typeface="Arial"/>
            </a:endParaRPr>
          </a:p>
          <a:p>
            <a:pPr marL="167005" indent="-154305">
              <a:lnSpc>
                <a:spcPct val="100000"/>
              </a:lnSpc>
              <a:buAutoNum type="arabicPeriod" startAt="3"/>
              <a:tabLst>
                <a:tab pos="167005" algn="l"/>
              </a:tabLst>
            </a:pPr>
            <a:r>
              <a:rPr dirty="0" sz="1100" b="1">
                <a:latin typeface="Arial"/>
                <a:cs typeface="Arial"/>
              </a:rPr>
              <a:t>SOFTWARE</a:t>
            </a:r>
            <a:r>
              <a:rPr dirty="0" sz="1100" spc="-7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REQUIREMENTS: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290"/>
              </a:lnSpc>
              <a:spcBef>
                <a:spcPts val="1210"/>
              </a:spcBef>
            </a:pPr>
            <a:r>
              <a:rPr dirty="0" sz="1100" b="1">
                <a:latin typeface="Arial"/>
                <a:cs typeface="Arial"/>
              </a:rPr>
              <a:t>Operating</a:t>
            </a:r>
            <a:r>
              <a:rPr dirty="0" sz="1100" spc="-6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System:</a:t>
            </a:r>
            <a:endParaRPr sz="1100">
              <a:latin typeface="Arial"/>
              <a:cs typeface="Arial"/>
            </a:endParaRPr>
          </a:p>
          <a:p>
            <a:pPr marL="51435">
              <a:lnSpc>
                <a:spcPts val="1290"/>
              </a:lnSpc>
            </a:pPr>
            <a:r>
              <a:rPr dirty="0" sz="1100">
                <a:latin typeface="Arial"/>
                <a:cs typeface="Arial"/>
              </a:rPr>
              <a:t>Windows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10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Windows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35"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295"/>
              </a:lnSpc>
              <a:spcBef>
                <a:spcPts val="1210"/>
              </a:spcBef>
            </a:pPr>
            <a:r>
              <a:rPr dirty="0" sz="1100" b="1">
                <a:latin typeface="Arial"/>
                <a:cs typeface="Arial"/>
              </a:rPr>
              <a:t>Programming</a:t>
            </a:r>
            <a:r>
              <a:rPr dirty="0" sz="1100" spc="-6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Language:</a:t>
            </a:r>
            <a:endParaRPr sz="1100">
              <a:latin typeface="Arial"/>
              <a:cs typeface="Arial"/>
            </a:endParaRPr>
          </a:p>
          <a:p>
            <a:pPr marL="51435">
              <a:lnSpc>
                <a:spcPts val="1295"/>
              </a:lnSpc>
            </a:pPr>
            <a:r>
              <a:rPr dirty="0" sz="1100">
                <a:latin typeface="Arial"/>
                <a:cs typeface="Arial"/>
              </a:rPr>
              <a:t>Python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3.x</a:t>
            </a:r>
            <a:endParaRPr sz="1100">
              <a:latin typeface="Arial"/>
              <a:cs typeface="Arial"/>
            </a:endParaRPr>
          </a:p>
          <a:p>
            <a:pPr marL="51435">
              <a:lnSpc>
                <a:spcPts val="1290"/>
              </a:lnSpc>
              <a:spcBef>
                <a:spcPts val="1210"/>
              </a:spcBef>
            </a:pPr>
            <a:r>
              <a:rPr dirty="0" sz="1100" spc="-10" b="1">
                <a:latin typeface="Arial"/>
                <a:cs typeface="Arial"/>
              </a:rPr>
              <a:t>Development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Environment: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290"/>
              </a:lnSpc>
            </a:pPr>
            <a:r>
              <a:rPr dirty="0" sz="1100">
                <a:latin typeface="Arial"/>
                <a:cs typeface="Arial"/>
              </a:rPr>
              <a:t>Jupyter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Notebook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Google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Colab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295"/>
              </a:lnSpc>
              <a:spcBef>
                <a:spcPts val="1210"/>
              </a:spcBef>
            </a:pPr>
            <a:r>
              <a:rPr dirty="0" sz="1100" b="1">
                <a:latin typeface="Arial"/>
                <a:cs typeface="Arial"/>
              </a:rPr>
              <a:t>Required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Software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Python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Libraries:</a:t>
            </a:r>
            <a:endParaRPr sz="1100">
              <a:latin typeface="Arial"/>
              <a:cs typeface="Arial"/>
            </a:endParaRPr>
          </a:p>
          <a:p>
            <a:pPr lvl="1" marL="137795" indent="-86360">
              <a:lnSpc>
                <a:spcPts val="1265"/>
              </a:lnSpc>
              <a:buChar char="•"/>
              <a:tabLst>
                <a:tab pos="137795" algn="l"/>
              </a:tabLst>
            </a:pPr>
            <a:r>
              <a:rPr dirty="0" sz="1100" spc="-10">
                <a:latin typeface="Arial"/>
                <a:cs typeface="Arial"/>
              </a:rPr>
              <a:t>Python</a:t>
            </a:r>
            <a:endParaRPr sz="1100">
              <a:latin typeface="Arial"/>
              <a:cs typeface="Arial"/>
            </a:endParaRPr>
          </a:p>
          <a:p>
            <a:pPr lvl="1"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>
                <a:latin typeface="Arial"/>
                <a:cs typeface="Arial"/>
              </a:rPr>
              <a:t>Jupyter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Notebook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Google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Colab</a:t>
            </a:r>
            <a:endParaRPr sz="1100">
              <a:latin typeface="Arial"/>
              <a:cs typeface="Arial"/>
            </a:endParaRPr>
          </a:p>
          <a:p>
            <a:pPr lvl="1"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>
                <a:latin typeface="Arial"/>
                <a:cs typeface="Arial"/>
              </a:rPr>
              <a:t>Pandas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•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NumPy</a:t>
            </a:r>
            <a:endParaRPr sz="1100">
              <a:latin typeface="Arial"/>
              <a:cs typeface="Arial"/>
            </a:endParaRPr>
          </a:p>
          <a:p>
            <a:pPr lvl="1"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 spc="-10">
                <a:latin typeface="Arial"/>
                <a:cs typeface="Arial"/>
              </a:rPr>
              <a:t>Scikit-learn</a:t>
            </a:r>
            <a:endParaRPr sz="1100">
              <a:latin typeface="Arial"/>
              <a:cs typeface="Arial"/>
            </a:endParaRPr>
          </a:p>
          <a:p>
            <a:pPr lvl="1"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 spc="-10">
                <a:latin typeface="Arial"/>
                <a:cs typeface="Arial"/>
              </a:rPr>
              <a:t>Matplotlib</a:t>
            </a:r>
            <a:endParaRPr sz="1100">
              <a:latin typeface="Arial"/>
              <a:cs typeface="Arial"/>
            </a:endParaRPr>
          </a:p>
          <a:p>
            <a:pPr lvl="1"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 spc="-10">
                <a:latin typeface="Arial"/>
                <a:cs typeface="Arial"/>
              </a:rPr>
              <a:t>Seaborn</a:t>
            </a:r>
            <a:endParaRPr sz="1100">
              <a:latin typeface="Arial"/>
              <a:cs typeface="Arial"/>
            </a:endParaRPr>
          </a:p>
          <a:p>
            <a:pPr lvl="1"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 spc="-10">
                <a:latin typeface="Arial"/>
                <a:cs typeface="Arial"/>
              </a:rPr>
              <a:t>Imbalanced-learn</a:t>
            </a:r>
            <a:endParaRPr sz="1100">
              <a:latin typeface="Arial"/>
              <a:cs typeface="Arial"/>
            </a:endParaRPr>
          </a:p>
          <a:p>
            <a:pPr lvl="1" marL="99060" indent="-86360">
              <a:lnSpc>
                <a:spcPts val="1290"/>
              </a:lnSpc>
              <a:buChar char="•"/>
              <a:tabLst>
                <a:tab pos="99060" algn="l"/>
              </a:tabLst>
            </a:pPr>
            <a:r>
              <a:rPr dirty="0" sz="1100" spc="-10">
                <a:latin typeface="Arial"/>
                <a:cs typeface="Arial"/>
              </a:rPr>
              <a:t>Joblib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295"/>
              </a:lnSpc>
              <a:spcBef>
                <a:spcPts val="1210"/>
              </a:spcBef>
            </a:pPr>
            <a:r>
              <a:rPr dirty="0" sz="1100" spc="-10" b="1">
                <a:latin typeface="Arial"/>
                <a:cs typeface="Arial"/>
              </a:rPr>
              <a:t>Machine-</a:t>
            </a:r>
            <a:r>
              <a:rPr dirty="0" sz="1100" b="1">
                <a:latin typeface="Arial"/>
                <a:cs typeface="Arial"/>
              </a:rPr>
              <a:t>Learning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Algorithms:</a:t>
            </a:r>
            <a:endParaRPr sz="1100">
              <a:latin typeface="Arial"/>
              <a:cs typeface="Arial"/>
            </a:endParaRPr>
          </a:p>
          <a:p>
            <a:pPr lvl="1"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>
                <a:latin typeface="Arial"/>
                <a:cs typeface="Arial"/>
              </a:rPr>
              <a:t>Decision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Tree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Classifier</a:t>
            </a:r>
            <a:endParaRPr sz="1100">
              <a:latin typeface="Arial"/>
              <a:cs typeface="Arial"/>
            </a:endParaRPr>
          </a:p>
          <a:p>
            <a:pPr lvl="1"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>
                <a:latin typeface="Arial"/>
                <a:cs typeface="Arial"/>
              </a:rPr>
              <a:t>Random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Forest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Classifier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Evaluation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Methods:</a:t>
            </a:r>
            <a:endParaRPr sz="1100">
              <a:latin typeface="Arial"/>
              <a:cs typeface="Arial"/>
            </a:endParaRPr>
          </a:p>
          <a:p>
            <a:pPr lvl="1" marL="137795" indent="-86360">
              <a:lnSpc>
                <a:spcPts val="1265"/>
              </a:lnSpc>
              <a:buChar char="•"/>
              <a:tabLst>
                <a:tab pos="137795" algn="l"/>
              </a:tabLst>
            </a:pPr>
            <a:r>
              <a:rPr dirty="0" sz="1100">
                <a:latin typeface="Arial"/>
                <a:cs typeface="Arial"/>
              </a:rPr>
              <a:t>Confusion</a:t>
            </a:r>
            <a:r>
              <a:rPr dirty="0" sz="1100" spc="-7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Matrix</a:t>
            </a:r>
            <a:endParaRPr sz="1100">
              <a:latin typeface="Arial"/>
              <a:cs typeface="Arial"/>
            </a:endParaRPr>
          </a:p>
          <a:p>
            <a:pPr lvl="1" marL="99060" indent="-86360">
              <a:lnSpc>
                <a:spcPts val="1290"/>
              </a:lnSpc>
              <a:buChar char="•"/>
              <a:tabLst>
                <a:tab pos="99060" algn="l"/>
              </a:tabLst>
            </a:pPr>
            <a:r>
              <a:rPr dirty="0" sz="1100" spc="-10">
                <a:latin typeface="Arial"/>
                <a:cs typeface="Arial"/>
              </a:rPr>
              <a:t>Precision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654050"/>
            <a:ext cx="5965190" cy="2602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060" indent="-86360">
              <a:lnSpc>
                <a:spcPts val="1290"/>
              </a:lnSpc>
              <a:spcBef>
                <a:spcPts val="100"/>
              </a:spcBef>
              <a:buChar char="•"/>
              <a:tabLst>
                <a:tab pos="99060" algn="l"/>
              </a:tabLst>
            </a:pPr>
            <a:r>
              <a:rPr dirty="0" sz="1100" spc="-10">
                <a:latin typeface="Arial"/>
                <a:cs typeface="Arial"/>
              </a:rPr>
              <a:t>Recall</a:t>
            </a:r>
            <a:endParaRPr sz="1100">
              <a:latin typeface="Arial"/>
              <a:cs typeface="Arial"/>
            </a:endParaRPr>
          </a:p>
          <a:p>
            <a:pPr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 spc="-10">
                <a:latin typeface="Arial"/>
                <a:cs typeface="Arial"/>
              </a:rPr>
              <a:t>F1-Score</a:t>
            </a:r>
            <a:endParaRPr sz="1100">
              <a:latin typeface="Arial"/>
              <a:cs typeface="Arial"/>
            </a:endParaRPr>
          </a:p>
          <a:p>
            <a:pPr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 spc="-10">
                <a:latin typeface="Arial"/>
                <a:cs typeface="Arial"/>
              </a:rPr>
              <a:t>Precision-</a:t>
            </a:r>
            <a:r>
              <a:rPr dirty="0" sz="1100">
                <a:latin typeface="Arial"/>
                <a:cs typeface="Arial"/>
              </a:rPr>
              <a:t>Recall</a:t>
            </a:r>
            <a:r>
              <a:rPr dirty="0" sz="1100" spc="-20">
                <a:latin typeface="Arial"/>
                <a:cs typeface="Arial"/>
              </a:rPr>
              <a:t> Curve</a:t>
            </a:r>
            <a:endParaRPr sz="1100">
              <a:latin typeface="Arial"/>
              <a:cs typeface="Arial"/>
            </a:endParaRPr>
          </a:p>
          <a:p>
            <a:pPr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>
                <a:latin typeface="Arial"/>
                <a:cs typeface="Arial"/>
              </a:rPr>
              <a:t>Average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Precision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Score</a:t>
            </a:r>
            <a:endParaRPr sz="1100">
              <a:latin typeface="Arial"/>
              <a:cs typeface="Arial"/>
            </a:endParaRPr>
          </a:p>
          <a:p>
            <a:pPr marL="99060" indent="-86360">
              <a:lnSpc>
                <a:spcPts val="1295"/>
              </a:lnSpc>
              <a:buChar char="•"/>
              <a:tabLst>
                <a:tab pos="99060" algn="l"/>
              </a:tabLst>
            </a:pPr>
            <a:r>
              <a:rPr dirty="0" sz="1100" spc="-10">
                <a:latin typeface="Arial"/>
                <a:cs typeface="Arial"/>
              </a:rPr>
              <a:t>Classification</a:t>
            </a:r>
            <a:r>
              <a:rPr dirty="0" sz="1100" spc="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Report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290"/>
              </a:lnSpc>
              <a:spcBef>
                <a:spcPts val="1210"/>
              </a:spcBef>
            </a:pPr>
            <a:r>
              <a:rPr dirty="0" sz="1100" b="1">
                <a:latin typeface="Arial"/>
                <a:cs typeface="Arial"/>
              </a:rPr>
              <a:t>Dataset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Requirement: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ts val="1270"/>
              </a:lnSpc>
              <a:spcBef>
                <a:spcPts val="55"/>
              </a:spcBef>
            </a:pP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CSV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dataset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containing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company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financial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indicators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target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column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indicating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whether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a </a:t>
            </a:r>
            <a:r>
              <a:rPr dirty="0" sz="1100">
                <a:latin typeface="Arial"/>
                <a:cs typeface="Arial"/>
              </a:rPr>
              <a:t>company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bankrupt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non-bankrupt.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290"/>
              </a:lnSpc>
              <a:spcBef>
                <a:spcPts val="1175"/>
              </a:spcBef>
            </a:pPr>
            <a:r>
              <a:rPr dirty="0" sz="1100" b="1">
                <a:latin typeface="Arial"/>
                <a:cs typeface="Arial"/>
              </a:rPr>
              <a:t>Minimum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Hardware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Requirements:</a:t>
            </a:r>
            <a:endParaRPr sz="1100">
              <a:latin typeface="Arial"/>
              <a:cs typeface="Arial"/>
            </a:endParaRPr>
          </a:p>
          <a:p>
            <a:pPr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>
                <a:latin typeface="Arial"/>
                <a:cs typeface="Arial"/>
              </a:rPr>
              <a:t>Intel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Core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i3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processor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equivalent</a:t>
            </a:r>
            <a:endParaRPr sz="1100">
              <a:latin typeface="Arial"/>
              <a:cs typeface="Arial"/>
            </a:endParaRPr>
          </a:p>
          <a:p>
            <a:pPr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>
                <a:latin typeface="Arial"/>
                <a:cs typeface="Arial"/>
              </a:rPr>
              <a:t>Minimum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4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GB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RAM</a:t>
            </a:r>
            <a:endParaRPr sz="1100">
              <a:latin typeface="Arial"/>
              <a:cs typeface="Arial"/>
            </a:endParaRPr>
          </a:p>
          <a:p>
            <a:pPr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>
                <a:latin typeface="Arial"/>
                <a:cs typeface="Arial"/>
              </a:rPr>
              <a:t>8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GB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RAM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recommended</a:t>
            </a:r>
            <a:endParaRPr sz="1100">
              <a:latin typeface="Arial"/>
              <a:cs typeface="Arial"/>
            </a:endParaRPr>
          </a:p>
          <a:p>
            <a:pPr marL="99060" indent="-86360">
              <a:lnSpc>
                <a:spcPts val="1265"/>
              </a:lnSpc>
              <a:buChar char="•"/>
              <a:tabLst>
                <a:tab pos="99060" algn="l"/>
              </a:tabLst>
            </a:pPr>
            <a:r>
              <a:rPr dirty="0" sz="1100">
                <a:latin typeface="Arial"/>
                <a:cs typeface="Arial"/>
              </a:rPr>
              <a:t>At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least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GB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available</a:t>
            </a:r>
            <a:r>
              <a:rPr dirty="0" sz="110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storage</a:t>
            </a:r>
            <a:endParaRPr sz="1100">
              <a:latin typeface="Arial"/>
              <a:cs typeface="Arial"/>
            </a:endParaRPr>
          </a:p>
          <a:p>
            <a:pPr marL="99060" indent="-86360">
              <a:lnSpc>
                <a:spcPts val="1290"/>
              </a:lnSpc>
              <a:buChar char="•"/>
              <a:tabLst>
                <a:tab pos="99060" algn="l"/>
              </a:tabLst>
            </a:pPr>
            <a:r>
              <a:rPr dirty="0" sz="1100">
                <a:latin typeface="Arial"/>
                <a:cs typeface="Arial"/>
              </a:rPr>
              <a:t>Internet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connection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Google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Colab,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downloading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dataset,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installing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libraries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1439" y="4870450"/>
            <a:ext cx="15220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Signature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Guide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1329" y="4870450"/>
            <a:ext cx="11969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Course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Instructor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Nanditha</dc:creator>
  <dcterms:created xsi:type="dcterms:W3CDTF">2026-10-06T03:54:45Z</dcterms:created>
  <dcterms:modified xsi:type="dcterms:W3CDTF">2026-10-06T03:54:45Z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2026-08-11T00:00:00Z</vt:filetime>
  </property>
  <property fmtid="{D5CDD505-2E9C-101B-9397-08002B2CF9AE}" pid="3" name="Creator">
    <vt:lpwstr>Writer</vt:lpwstr>
  </property>
  <property fmtid="{D5CDD505-2E9C-101B-9397-08002B2CF9AE}" pid="4" name="Producer">
    <vt:lpwstr>OpenOffice 4.1.14</vt:lpwstr>
  </property>
  <property fmtid="{D5CDD505-2E9C-101B-9397-08002B2CF9AE}" pid="5" name="LastSaved">
    <vt:filetime>2026-08-11T00:00:00Z</vt:filetime>
  </property>
</Properties>
</file>